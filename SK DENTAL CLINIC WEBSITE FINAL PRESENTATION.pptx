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497" r:id="rId3"/>
    <p:sldId id="499" r:id="rId4"/>
    <p:sldId id="510" r:id="rId5"/>
    <p:sldId id="507" r:id="rId6"/>
    <p:sldId id="516" r:id="rId7"/>
    <p:sldId id="517" r:id="rId8"/>
    <p:sldId id="500" r:id="rId9"/>
    <p:sldId id="502" r:id="rId10"/>
    <p:sldId id="513" r:id="rId11"/>
    <p:sldId id="503" r:id="rId12"/>
    <p:sldId id="511" r:id="rId13"/>
    <p:sldId id="512" r:id="rId14"/>
    <p:sldId id="269" r:id="rId15"/>
  </p:sldIdLst>
  <p:sldSz cx="9144000" cy="6858000" type="screen4x3"/>
  <p:notesSz cx="6761163" cy="99425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CB4"/>
    <a:srgbClr val="0060AA"/>
    <a:srgbClr val="0066B3"/>
    <a:srgbClr val="E31E24"/>
    <a:srgbClr val="E8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45" autoAdjust="0"/>
    <p:restoredTop sz="94660"/>
  </p:normalViewPr>
  <p:slideViewPr>
    <p:cSldViewPr>
      <p:cViewPr varScale="1">
        <p:scale>
          <a:sx n="78" d="100"/>
          <a:sy n="78" d="100"/>
        </p:scale>
        <p:origin x="1411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29761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668431-CD35-4516-818D-B41B2C4843CF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1243013"/>
            <a:ext cx="447198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949B3-C4AB-4FB2-8B24-B07A558BD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6534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6005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66966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BCE7E-BDBE-3F9C-2038-96CBA86AA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EF5E13-5B7E-BA31-196F-C78A8312AE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3D0BB2-AF0F-C62A-FA9E-996A8B92A0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E18FE0-4472-8B57-4C0D-6B143B0B25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53271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50CB9-56DE-31B2-1098-9E71ADEDC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A157ED-9196-070B-03D2-6FE6317058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E38988-A9A4-28F1-3031-903B0DC0FA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DAD130-048E-2ECD-E747-13E1DC11F1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35656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578A7-69BE-EEAD-4686-B50E4A523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497B07-F72B-0F88-6C92-BD19E6B6B0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9D8314-C762-C793-2E4D-A9DB2D121B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3232F5-1EFD-5711-35B1-0BAFE38141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5337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75E933-DF99-E831-7399-1169B84A5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D6C76F-A9A4-2252-6C0A-8A674F680C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29FE0D-4853-AE66-04A3-1B217B8049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178FB8-89A1-BEEB-C932-9270A2CBC7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01445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04681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37544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4B15D-3B10-7C4B-3C39-BC0FD06A4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9B3241-E49E-0AA8-C796-6617BD2216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B47FF6-5701-FBB5-1E88-1EFDA597C3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4C0451-0440-A3F2-CD65-60B65BB898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66115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96401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1EA32-F5E7-BFC1-0202-89E59DD2E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296541-9A82-B843-8CC0-5530B4BC1D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4B0EA8-C7B3-8D07-415C-07212A9ED7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6D8067-97FE-95EF-8F61-D3A393B526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90795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46B43-D733-3D72-36D0-ACD5EFF77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A04A97-721B-46C9-D658-3A1878916C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2B3A60-FA67-AB30-44A2-9B7AC014CC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1B310C-CC95-543D-CA6D-D159A19EA2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49157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1617466"/>
      </p:ext>
    </p:extLst>
  </p:cSld>
  <p:clrMapOvr>
    <a:masterClrMapping/>
  </p:clrMapOvr>
  <p:transition spd="med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195190"/>
      </p:ext>
    </p:extLst>
  </p:cSld>
  <p:clrMapOvr>
    <a:masterClrMapping/>
  </p:clrMapOvr>
  <p:transition spd="med"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0717021"/>
      </p:ext>
    </p:extLst>
  </p:cSld>
  <p:clrMapOvr>
    <a:masterClrMapping/>
  </p:clrMapOvr>
  <p:transition spd="med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1185814"/>
      </p:ext>
    </p:extLst>
  </p:cSld>
  <p:clrMapOvr>
    <a:masterClrMapping/>
  </p:clrMapOvr>
  <p:transition spd="med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1301578"/>
      </p:ext>
    </p:extLst>
  </p:cSld>
  <p:clrMapOvr>
    <a:masterClrMapping/>
  </p:clrMapOvr>
  <p:transition spd="med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5240678"/>
      </p:ext>
    </p:extLst>
  </p:cSld>
  <p:clrMapOvr>
    <a:masterClrMapping/>
  </p:clrMapOvr>
  <p:transition spd="med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1787509"/>
      </p:ext>
    </p:extLst>
  </p:cSld>
  <p:clrMapOvr>
    <a:masterClrMapping/>
  </p:clrMapOvr>
  <p:transition spd="med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9679937"/>
      </p:ext>
    </p:extLst>
  </p:cSld>
  <p:clrMapOvr>
    <a:masterClrMapping/>
  </p:clrMapOvr>
  <p:transition spd="med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846030"/>
      </p:ext>
    </p:extLst>
  </p:cSld>
  <p:clrMapOvr>
    <a:masterClrMapping/>
  </p:clrMapOvr>
  <p:transition spd="med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755771"/>
      </p:ext>
    </p:extLst>
  </p:cSld>
  <p:clrMapOvr>
    <a:masterClrMapping/>
  </p:clrMapOvr>
  <p:transition spd="med"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5389809"/>
      </p:ext>
    </p:extLst>
  </p:cSld>
  <p:clrMapOvr>
    <a:masterClrMapping/>
  </p:clrMapOvr>
  <p:transition spd="med">
    <p:pull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A89A1-F17A-4D3D-AC08-D16056C16514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8759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pull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9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PT Admission Drive 2021-22-final-2_Page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0383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-27384"/>
            <a:ext cx="9180512" cy="6885384"/>
          </a:xfrm>
        </p:spPr>
      </p:pic>
      <p:cxnSp>
        <p:nvCxnSpPr>
          <p:cNvPr id="11" name="Straight Connector 10"/>
          <p:cNvCxnSpPr>
            <a:cxnSpLocks/>
          </p:cNvCxnSpPr>
          <p:nvPr/>
        </p:nvCxnSpPr>
        <p:spPr>
          <a:xfrm>
            <a:off x="899592" y="2060848"/>
            <a:ext cx="756084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0382" y="150274"/>
            <a:ext cx="6396065" cy="92087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36440" y="2219553"/>
            <a:ext cx="87849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SzPct val="25000"/>
            </a:pPr>
            <a:r>
              <a:rPr lang="en-I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Second Year Project Synopsis Presentation</a:t>
            </a:r>
          </a:p>
          <a:p>
            <a:pPr lvl="0" algn="ctr">
              <a:buSzPct val="25000"/>
            </a:pPr>
            <a:r>
              <a:rPr lang="en-I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Submitted by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232DFD41-0025-28B4-FE3B-A54FAEE28F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4363189"/>
              </p:ext>
            </p:extLst>
          </p:nvPr>
        </p:nvGraphicFramePr>
        <p:xfrm>
          <a:off x="1696134" y="3086002"/>
          <a:ext cx="6096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537270469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3050249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spcBef>
                          <a:spcPts val="30"/>
                        </a:spcBef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ROLL NO.</a:t>
                      </a:r>
                      <a:endParaRPr lang="en-IN" sz="1200" b="1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"/>
                        </a:spcBef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NAME</a:t>
                      </a:r>
                      <a:endParaRPr lang="en-IN" sz="12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658983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spcBef>
                          <a:spcPts val="30"/>
                        </a:spcBef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2401011487</a:t>
                      </a:r>
                      <a:endParaRPr lang="en-IN" sz="1200" b="1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"/>
                        </a:spcBef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Rounit Kumar</a:t>
                      </a:r>
                      <a:endParaRPr lang="en-IN" sz="1200" b="1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761018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spcBef>
                          <a:spcPts val="30"/>
                        </a:spcBef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2401011485</a:t>
                      </a:r>
                      <a:endParaRPr lang="en-IN" sz="1200" b="1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"/>
                        </a:spcBef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Prince Kumar Gupta</a:t>
                      </a:r>
                      <a:endParaRPr lang="en-IN" sz="1200" b="1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58206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spcBef>
                          <a:spcPts val="30"/>
                        </a:spcBef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2401011483</a:t>
                      </a:r>
                      <a:endParaRPr lang="en-IN" sz="1200" b="1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"/>
                        </a:spcBef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Naman Bharadwaj</a:t>
                      </a:r>
                      <a:endParaRPr lang="en-IN" sz="1200" b="1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41949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spcBef>
                          <a:spcPts val="30"/>
                        </a:spcBef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2401012482</a:t>
                      </a:r>
                      <a:endParaRPr lang="en-IN" sz="1200" b="1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"/>
                        </a:spcBef>
                      </a:pPr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Shantna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Kumar</a:t>
                      </a:r>
                      <a:endParaRPr lang="en-IN" sz="1200" b="1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4337506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DF18845-4075-32C5-8F4A-4F40F86E837F}"/>
              </a:ext>
            </a:extLst>
          </p:cNvPr>
          <p:cNvSpPr txBox="1"/>
          <p:nvPr/>
        </p:nvSpPr>
        <p:spPr>
          <a:xfrm>
            <a:off x="818136" y="1335236"/>
            <a:ext cx="772375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buSzPct val="25000"/>
            </a:pPr>
            <a:r>
              <a:rPr lang="en-US" sz="4000" b="1" dirty="0">
                <a:solidFill>
                  <a:schemeClr val="bg1"/>
                </a:solidFill>
                <a:highlight>
                  <a:srgbClr val="006CB4"/>
                </a:highlight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S</a:t>
            </a:r>
            <a:r>
              <a:rPr lang="en-IN" sz="4000" b="1" dirty="0">
                <a:solidFill>
                  <a:schemeClr val="bg1"/>
                </a:solidFill>
                <a:highlight>
                  <a:srgbClr val="006CB4"/>
                </a:highlight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.K. DENTAL CLINIC WEBSITE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D4C745-33B7-0116-E20F-11A7F0DFD46F}"/>
              </a:ext>
            </a:extLst>
          </p:cNvPr>
          <p:cNvSpPr txBox="1"/>
          <p:nvPr/>
        </p:nvSpPr>
        <p:spPr>
          <a:xfrm>
            <a:off x="542220" y="5586245"/>
            <a:ext cx="85840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buSzPct val="25000"/>
            </a:pPr>
            <a:r>
              <a:rPr lang="en-IN" sz="1800" b="1" dirty="0">
                <a:solidFill>
                  <a:srgbClr val="0070C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Industry Mentor: </a:t>
            </a:r>
            <a:r>
              <a:rPr lang="en-IN" sz="1800" b="1" dirty="0" err="1">
                <a:solidFill>
                  <a:srgbClr val="0070C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Dr.</a:t>
            </a:r>
            <a:r>
              <a:rPr lang="en-IN" sz="1800" b="1" dirty="0">
                <a:solidFill>
                  <a:srgbClr val="0070C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 Kusum Mehta</a:t>
            </a:r>
          </a:p>
          <a:p>
            <a:pPr lvl="0" algn="ctr">
              <a:buSzPct val="25000"/>
            </a:pPr>
            <a:r>
              <a:rPr lang="en-IN" b="1" dirty="0">
                <a:solidFill>
                  <a:srgbClr val="0070C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Faculty Mentor:</a:t>
            </a:r>
            <a:r>
              <a:rPr lang="en-IN" sz="1800" b="1" dirty="0">
                <a:solidFill>
                  <a:srgbClr val="0070C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 </a:t>
            </a:r>
            <a:r>
              <a:rPr lang="en-IN" sz="1800" b="1" dirty="0" err="1">
                <a:solidFill>
                  <a:srgbClr val="0070C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Dr</a:t>
            </a:r>
            <a:r>
              <a:rPr lang="en-IN" b="1" dirty="0" err="1">
                <a:solidFill>
                  <a:srgbClr val="0070C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.</a:t>
            </a:r>
            <a:r>
              <a:rPr lang="en-IN" b="1" dirty="0">
                <a:solidFill>
                  <a:srgbClr val="0070C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 Ravinder </a:t>
            </a:r>
            <a:r>
              <a:rPr lang="en-IN" b="1" dirty="0" err="1">
                <a:solidFill>
                  <a:srgbClr val="0070C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Beniwal</a:t>
            </a:r>
            <a:endParaRPr lang="en-IN" sz="1800" b="1" dirty="0">
              <a:solidFill>
                <a:srgbClr val="0070C0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42536426"/>
      </p:ext>
    </p:extLst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13692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202605" y="206640"/>
            <a:ext cx="438556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44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  <a:endParaRPr lang="en-IN" sz="4400" b="1" dirty="0">
              <a:solidFill>
                <a:srgbClr val="E31E24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A93044A-BD0D-E3F7-B6E0-02BF697009EE}"/>
              </a:ext>
            </a:extLst>
          </p:cNvPr>
          <p:cNvSpPr txBox="1"/>
          <p:nvPr/>
        </p:nvSpPr>
        <p:spPr>
          <a:xfrm>
            <a:off x="323528" y="1480231"/>
            <a:ext cx="8208912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S.K. Dental Clinic Website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online platform designed to provide patients with easy access to dental care services. The website serves as a digital interface for the clinic, offering key features such as online appointment booking, service details, patient testimonials, and contact information.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aims to enhance patient engagement and streamline clinic operations by offering a user-friendly interface with an intuitive design. The website will also provide information about dental treatments, doctor availability, and emergency contact options, ensuring a seamless experience for both new and existing patients.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integrating modern web technologies, the S.K. Dental Clinic Website will improve accessibility, efficiency, and communication between patients and the clinic staff, ultimately enhancing the overall healthcare experience. </a:t>
            </a:r>
          </a:p>
        </p:txBody>
      </p:sp>
    </p:spTree>
    <p:extLst>
      <p:ext uri="{BB962C8B-B14F-4D97-AF65-F5344CB8AC3E}">
        <p14:creationId xmlns:p14="http://schemas.microsoft.com/office/powerpoint/2010/main" val="3353784259"/>
      </p:ext>
    </p:extLst>
  </p:cSld>
  <p:clrMapOvr>
    <a:masterClrMapping/>
  </p:clrMapOvr>
  <p:transition spd="med" advTm="8331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27E63-ED25-803D-A401-D24D6A4F2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A9F8646-8234-2671-16F2-8AC99181C3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9061EE7A-83B1-6763-4595-2361DE861A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67041"/>
            <a:ext cx="4781502" cy="9863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lnSpc>
                <a:spcPct val="150000"/>
              </a:lnSpc>
              <a:buSzPct val="25000"/>
            </a:pPr>
            <a:r>
              <a:rPr lang="en-US" sz="4400" b="1" dirty="0">
                <a:solidFill>
                  <a:prstClr val="black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Arial"/>
              </a:rPr>
              <a:t>A</a:t>
            </a:r>
            <a:r>
              <a:rPr lang="en-IN" sz="4400" b="1" dirty="0">
                <a:solidFill>
                  <a:prstClr val="black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Arial"/>
              </a:rPr>
              <a:t>bout the Problem</a:t>
            </a:r>
            <a:endParaRPr lang="en-IN" sz="3200" b="1" dirty="0">
              <a:solidFill>
                <a:srgbClr val="E31E24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EDB0A0-89BE-7C45-1BF7-615D0EAACAD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0DE9061B-D2ED-CF5B-C5E2-0AD93E853F2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0D6B2D1-8F8A-B01B-279B-484A4158DED3}"/>
              </a:ext>
            </a:extLst>
          </p:cNvPr>
          <p:cNvSpPr txBox="1"/>
          <p:nvPr/>
        </p:nvSpPr>
        <p:spPr>
          <a:xfrm>
            <a:off x="179512" y="1293834"/>
            <a:ext cx="8784976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93BC3FD-4A60-CBE8-9CAF-26F2B639AEB4}"/>
              </a:ext>
            </a:extLst>
          </p:cNvPr>
          <p:cNvSpPr txBox="1"/>
          <p:nvPr/>
        </p:nvSpPr>
        <p:spPr>
          <a:xfrm>
            <a:off x="72009" y="1061448"/>
            <a:ext cx="8784976" cy="6005490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Problems Identified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:-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Online Presence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Patients face difficulty in accessing clinic information, services, and contact details.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Appointment Booking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Patients have to visit or call the clinic to book appointments, leading to inconvenience and mismanagement.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Patient Engagement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No proper communication channel for sharing treatment details, dental care tips, or follow-up reminders.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Inefficient Record Management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Patient records and history are maintained manually, increasing the risk of errors and data loss.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Emergency Assistance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Patients lack immediate access to emergency dental care or quick consultation options.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4095780"/>
      </p:ext>
    </p:extLst>
  </p:cSld>
  <p:clrMapOvr>
    <a:masterClrMapping/>
  </p:clrMapOvr>
  <p:transition spd="med" advTm="3282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BCB9D-96AE-CB6E-9C36-464483450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12461A6-C9CF-A279-E846-5AFA1CEF06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B99D4242-71CF-DE3F-0B66-C21402FDCF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-49199"/>
            <a:ext cx="4781502" cy="9863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lnSpc>
                <a:spcPct val="150000"/>
              </a:lnSpc>
              <a:buSzPct val="25000"/>
            </a:pPr>
            <a:r>
              <a:rPr lang="en-US" sz="4400" b="1" dirty="0">
                <a:solidFill>
                  <a:prstClr val="black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Arial"/>
              </a:rPr>
              <a:t>A</a:t>
            </a:r>
            <a:r>
              <a:rPr lang="en-IN" sz="4400" b="1" dirty="0">
                <a:solidFill>
                  <a:prstClr val="black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Arial"/>
              </a:rPr>
              <a:t>bout the Problem</a:t>
            </a:r>
            <a:endParaRPr lang="en-IN" sz="3200" b="1" dirty="0">
              <a:solidFill>
                <a:srgbClr val="E31E24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4824933-86C5-EFBA-36B9-358001A06AC0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9E3AE5FC-8649-27D3-900D-5F6329A7F4F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E099852-B907-412D-6E46-D21E628B3AD6}"/>
              </a:ext>
            </a:extLst>
          </p:cNvPr>
          <p:cNvSpPr txBox="1"/>
          <p:nvPr/>
        </p:nvSpPr>
        <p:spPr>
          <a:xfrm>
            <a:off x="179512" y="1293834"/>
            <a:ext cx="8784976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A3DEF35-11EC-5059-39F1-AC5BCC365022}"/>
              </a:ext>
            </a:extLst>
          </p:cNvPr>
          <p:cNvSpPr txBox="1"/>
          <p:nvPr/>
        </p:nvSpPr>
        <p:spPr>
          <a:xfrm>
            <a:off x="72009" y="1110648"/>
            <a:ext cx="8892480" cy="252761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just"/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a Solution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:-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create an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online platform for the S.K. Dental Clinic.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24/7 accessibility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clinic services, appointment booking, and patient inquiries.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experience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through digital records, automated appointment reminders, and treatment guidelines.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enhance clinic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efficiency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reducing manual work and optimizing scheduling.</a:t>
            </a:r>
          </a:p>
          <a:p>
            <a:pPr algn="just"/>
            <a:endParaRPr lang="en-US" sz="16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8403570"/>
      </p:ext>
    </p:extLst>
  </p:cSld>
  <p:clrMapOvr>
    <a:masterClrMapping/>
  </p:clrMapOvr>
  <p:transition spd="med" advTm="2975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8E998-0815-6E8C-94AC-46F6F749E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CC2139F-C0FF-6F3E-CC91-CFA097638E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0A9F9B-63B2-0EBE-ED91-8909B61043A2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4666A690-F056-3C94-080B-6FB5699F692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37DE7E5-22DE-DC3B-BED4-1DBC52CFA1F3}"/>
              </a:ext>
            </a:extLst>
          </p:cNvPr>
          <p:cNvSpPr txBox="1"/>
          <p:nvPr/>
        </p:nvSpPr>
        <p:spPr>
          <a:xfrm>
            <a:off x="179512" y="1293834"/>
            <a:ext cx="8784976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8EB5D99B-71AE-4259-8404-43449116E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60648"/>
            <a:ext cx="8229600" cy="1143000"/>
          </a:xfrm>
        </p:spPr>
        <p:txBody>
          <a:bodyPr>
            <a:normAutofit fontScale="90000"/>
          </a:bodyPr>
          <a:lstStyle/>
          <a:p>
            <a:br>
              <a:rPr lang="en-US" sz="44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</a:br>
            <a:r>
              <a:rPr lang="en-US" sz="44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Before &amp; After Gallery: Real Results</a:t>
            </a:r>
            <a:br>
              <a:rPr lang="en-US" sz="4400" dirty="0"/>
            </a:br>
            <a:endParaRPr lang="en-IN" dirty="0"/>
          </a:p>
        </p:txBody>
      </p:sp>
      <p:pic>
        <p:nvPicPr>
          <p:cNvPr id="14" name="Content Placeholder 15">
            <a:extLst>
              <a:ext uri="{FF2B5EF4-FFF2-40B4-BE49-F238E27FC236}">
                <a16:creationId xmlns:a16="http://schemas.microsoft.com/office/drawing/2014/main" id="{DB742144-858A-E59A-4862-5B370C07590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844824"/>
            <a:ext cx="2406998" cy="240699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E99C559-BE3C-E5D5-7212-7F7195CA8CF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848" y="1844824"/>
            <a:ext cx="2705859" cy="240699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85D572F-7992-CAC1-C751-457E2F4FD140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9887" y="1517704"/>
            <a:ext cx="2774113" cy="274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285381"/>
      </p:ext>
    </p:extLst>
  </p:cSld>
  <p:clrMapOvr>
    <a:masterClrMapping/>
  </p:clrMapOvr>
  <p:transition spd="med" advTm="2975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3D1A3-0976-6B14-D239-CEF90C649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3DC11A2-96A5-C684-558A-CCB3919C2C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63BE340-B98A-83DF-3C92-FBB46702C69F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B4CD03BB-8DD1-F68E-5D0C-0D3CDD73400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8D9425F-6A7B-7975-9EC6-546A35F57AE7}"/>
              </a:ext>
            </a:extLst>
          </p:cNvPr>
          <p:cNvSpPr txBox="1"/>
          <p:nvPr/>
        </p:nvSpPr>
        <p:spPr>
          <a:xfrm>
            <a:off x="179512" y="1293834"/>
            <a:ext cx="8784976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64F52297-1DFF-7236-0819-F74CF66E2DE5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50"/>
              </a:lnSpc>
            </a:pPr>
            <a:r>
              <a:rPr lang="en-US" sz="17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Whitening:-</a:t>
            </a: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Safe methods for a brighter smile.</a:t>
            </a:r>
          </a:p>
          <a:p>
            <a:pPr>
              <a:lnSpc>
                <a:spcPts val="2850"/>
              </a:lnSpc>
            </a:pPr>
            <a:r>
              <a:rPr lang="en-US" sz="17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Prevention</a:t>
            </a: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:-How to avoid gum disease and cavities.</a:t>
            </a:r>
          </a:p>
          <a:p>
            <a:pPr>
              <a:lnSpc>
                <a:spcPts val="2850"/>
              </a:lnSpc>
            </a:pPr>
            <a:r>
              <a:rPr lang="en-US" sz="17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Oral Hygiene:-</a:t>
            </a: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Tips on brushing and flossing techniques.</a:t>
            </a:r>
            <a:endParaRPr lang="en-US" sz="1750" dirty="0"/>
          </a:p>
          <a:p>
            <a:pPr marL="0" indent="0">
              <a:lnSpc>
                <a:spcPts val="2850"/>
              </a:lnSpc>
              <a:buFont typeface="Arial" pitchFamily="34" charset="0"/>
              <a:buNone/>
            </a:pPr>
            <a:endParaRPr lang="en-US" sz="1750" dirty="0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D9F2C478-050A-E5A3-AE3D-81EF1523FB0D}"/>
              </a:ext>
            </a:extLst>
          </p:cNvPr>
          <p:cNvSpPr txBox="1">
            <a:spLocks/>
          </p:cNvSpPr>
          <p:nvPr/>
        </p:nvSpPr>
        <p:spPr>
          <a:xfrm>
            <a:off x="323528" y="34100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Blog: Expert Dental Advice &amp; Tips</a:t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929628"/>
      </p:ext>
    </p:extLst>
  </p:cSld>
  <p:clrMapOvr>
    <a:masterClrMapping/>
  </p:clrMapOvr>
  <p:transition spd="med" advTm="2975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70575" y="218544"/>
            <a:ext cx="4826386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44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400" b="1" dirty="0">
              <a:solidFill>
                <a:srgbClr val="E31E24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2D7EC8-BFDC-C4B6-F5D1-9906B7D02893}"/>
              </a:ext>
            </a:extLst>
          </p:cNvPr>
          <p:cNvSpPr txBox="1"/>
          <p:nvPr/>
        </p:nvSpPr>
        <p:spPr>
          <a:xfrm>
            <a:off x="72008" y="1061448"/>
            <a:ext cx="9108505" cy="5201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S.K. Dental Clinic currently lacks an efficient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platform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managing appointments, patient records, and communication. The absence of a digital system leads to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booking inefficiencies, difficulty in accessing clinic information, poor patient engagement, and data mismanagement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is it Important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Patient Convenience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Allows easy online appointment booking and access to treatment details.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Clinic Efficiency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Reduces manual workload and streamlines scheduling.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Better Patient Care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Provides timely reminders, follow-ups, and emergency contact options.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Minimizes Data Errors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Digital record-keeping ensures accurate patient history management.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of Solving This Problem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:-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Patient Satisfaction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Faster and more convenient services.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Time Management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Reduces wait times and improves clinic operations.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Accessibility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Patients can access information anytime, anywhere.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Stronger Patient-Doctor Relationship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Improved communication and engagement.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Developing the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S.K. Dental Clinic Website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will revolutionize clinic operations, making dental care more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accessible, efficient, and patient-friendly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7329288"/>
      </p:ext>
    </p:extLst>
  </p:cSld>
  <p:clrMapOvr>
    <a:masterClrMapping/>
  </p:clrMapOvr>
  <p:transition spd="med" advTm="1160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28437" y="258470"/>
            <a:ext cx="6915996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44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r>
              <a:rPr lang="en-US" sz="4400" b="1" kern="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and Approach</a:t>
            </a:r>
            <a:endParaRPr lang="en-IN" sz="4400" b="1" dirty="0">
              <a:solidFill>
                <a:srgbClr val="E31E24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46387" y="1340768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FD2DEC-853B-1F58-B958-D38FBE8F7014}"/>
              </a:ext>
            </a:extLst>
          </p:cNvPr>
          <p:cNvSpPr txBox="1"/>
          <p:nvPr/>
        </p:nvSpPr>
        <p:spPr>
          <a:xfrm>
            <a:off x="128437" y="1303014"/>
            <a:ext cx="8964488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:-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a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responsive website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an intuitive user interface for easy navigation.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an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appointment booking system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streamline scheduling.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patient record management system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efficient data handling.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notifications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appointment reminders and follow-ups.</a:t>
            </a:r>
          </a:p>
          <a:p>
            <a:pPr algn="just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000" b="1" dirty="0"/>
              <a:t>Back-End Development</a:t>
            </a:r>
          </a:p>
          <a:p>
            <a:r>
              <a:rPr lang="en-US" sz="2000" b="1" dirty="0"/>
              <a:t>Technologies Used</a:t>
            </a:r>
            <a:r>
              <a:rPr lang="en-US" sz="20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HTML</a:t>
            </a:r>
            <a:r>
              <a:rPr lang="en-US" dirty="0"/>
              <a:t>: Structured the content of the web pages.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CSS</a:t>
            </a:r>
            <a:r>
              <a:rPr lang="en-US" dirty="0"/>
              <a:t>: Styled the user interface to ensure a clean and professional look.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JavaScript</a:t>
            </a:r>
            <a:r>
              <a:rPr lang="en-US" dirty="0"/>
              <a:t>: Added interactivity for dynamic content and smooth user experience.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Bootstrap</a:t>
            </a:r>
            <a:r>
              <a:rPr lang="en-US" dirty="0"/>
              <a:t>: Used for a </a:t>
            </a:r>
            <a:r>
              <a:rPr lang="en-US" b="1" dirty="0"/>
              <a:t>mobile-friendly</a:t>
            </a:r>
            <a:r>
              <a:rPr lang="en-US" dirty="0"/>
              <a:t> and </a:t>
            </a:r>
            <a:r>
              <a:rPr lang="en-US" b="1" dirty="0"/>
              <a:t>responsive design</a:t>
            </a:r>
            <a:r>
              <a:rPr lang="en-US" dirty="0"/>
              <a:t>, ensuring compatibility across devices.</a:t>
            </a:r>
          </a:p>
          <a:p>
            <a:r>
              <a:rPr lang="en-US" b="1" dirty="0"/>
              <a:t>Design Principles Followed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User-Centric Design</a:t>
            </a:r>
            <a:r>
              <a:rPr lang="en-US" dirty="0"/>
              <a:t>: Focused on ease of use for both patients and clinic staff.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Responsive Layout</a:t>
            </a:r>
            <a:r>
              <a:rPr lang="en-US" dirty="0"/>
              <a:t>: Ensured the site adapts to mobile, tablet, and desktop views.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Intuitive Navigation</a:t>
            </a:r>
            <a:r>
              <a:rPr lang="en-US" dirty="0"/>
              <a:t>: Streamlined menus and booking flows for quick access.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Accessibility</a:t>
            </a:r>
            <a:r>
              <a:rPr lang="en-US" dirty="0"/>
              <a:t>: Designed with clear fonts, colors, and labels for all users.</a:t>
            </a:r>
          </a:p>
        </p:txBody>
      </p:sp>
    </p:spTree>
    <p:extLst>
      <p:ext uri="{BB962C8B-B14F-4D97-AF65-F5344CB8AC3E}">
        <p14:creationId xmlns:p14="http://schemas.microsoft.com/office/powerpoint/2010/main" val="3295812248"/>
      </p:ext>
    </p:extLst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3F138-2987-F3E3-0F2C-BC60C937B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A91A324-CBFE-9518-2D90-6A1C9EFC1A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F073B379-509F-A736-7343-7CAA6DF839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437" y="258470"/>
            <a:ext cx="6915996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44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r>
              <a:rPr lang="en-US" sz="4400" b="1" kern="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and Approach</a:t>
            </a:r>
            <a:endParaRPr lang="en-IN" sz="4400" b="1" dirty="0">
              <a:solidFill>
                <a:srgbClr val="E31E24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E1AE973-D8BE-0BC9-3562-97F864339509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9DD578E6-3C39-6457-6868-05EEB507A2B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F9B4C86-7240-1511-7503-D096F3EE91E4}"/>
              </a:ext>
            </a:extLst>
          </p:cNvPr>
          <p:cNvSpPr txBox="1"/>
          <p:nvPr/>
        </p:nvSpPr>
        <p:spPr>
          <a:xfrm>
            <a:off x="146387" y="1340768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3C777F-D911-B926-001D-1C51914F9804}"/>
              </a:ext>
            </a:extLst>
          </p:cNvPr>
          <p:cNvSpPr txBox="1"/>
          <p:nvPr/>
        </p:nvSpPr>
        <p:spPr>
          <a:xfrm>
            <a:off x="128437" y="1303014"/>
            <a:ext cx="896448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Back-End Development</a:t>
            </a:r>
          </a:p>
          <a:p>
            <a:r>
              <a:rPr lang="en-US" b="1" dirty="0"/>
              <a:t>Technologies Used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Node.js</a:t>
            </a:r>
            <a:r>
              <a:rPr lang="en-US" dirty="0"/>
              <a:t>: Provided the runtime environment for server-side operations.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Express.js</a:t>
            </a:r>
            <a:r>
              <a:rPr lang="en-US" dirty="0"/>
              <a:t>: Managed routing, middleware, and request/response handling.</a:t>
            </a:r>
          </a:p>
          <a:p>
            <a:r>
              <a:rPr lang="en-US" b="1" dirty="0"/>
              <a:t>Database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MongoDB</a:t>
            </a:r>
            <a:r>
              <a:rPr lang="en-US" dirty="0"/>
              <a:t>: A database used for securely storing patient data and appointment records.</a:t>
            </a:r>
          </a:p>
          <a:p>
            <a:r>
              <a:rPr lang="en-US" b="1" dirty="0"/>
              <a:t>Server-Side Logic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Handled </a:t>
            </a:r>
            <a:r>
              <a:rPr lang="en-US" b="1" dirty="0"/>
              <a:t>appointment scheduling</a:t>
            </a:r>
            <a:r>
              <a:rPr lang="en-US" dirty="0"/>
              <a:t>, </a:t>
            </a:r>
            <a:r>
              <a:rPr lang="en-US" b="1" dirty="0"/>
              <a:t>data validation</a:t>
            </a:r>
            <a:r>
              <a:rPr lang="en-US" dirty="0"/>
              <a:t>, and </a:t>
            </a:r>
            <a:r>
              <a:rPr lang="en-US" b="1" dirty="0"/>
              <a:t>patient record management</a:t>
            </a:r>
            <a:r>
              <a:rPr lang="en-US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Implemented </a:t>
            </a:r>
            <a:r>
              <a:rPr lang="en-US" b="1" dirty="0"/>
              <a:t>automated email/SMS notifications</a:t>
            </a:r>
            <a:r>
              <a:rPr lang="en-US" dirty="0"/>
              <a:t> for reminders and follow-ups.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Ensured </a:t>
            </a:r>
            <a:r>
              <a:rPr lang="en-US" b="1" dirty="0"/>
              <a:t>secure data handling</a:t>
            </a:r>
            <a:r>
              <a:rPr lang="en-US" dirty="0"/>
              <a:t> with encrypted storage and proper authentication.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5299213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7133" y="254312"/>
            <a:ext cx="828092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44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Flowchart Of S.K. Dental Clinic</a:t>
            </a:r>
            <a:endParaRPr lang="en-IN" sz="4400" b="1" dirty="0">
              <a:solidFill>
                <a:srgbClr val="E31E24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585D81-2300-8CEC-B3E5-B981705B708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133" y="1198832"/>
            <a:ext cx="8499323" cy="4973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371696"/>
      </p:ext>
    </p:extLst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385D7-6459-9411-BDC7-E49EC0AB9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8F6A6CF-2920-47E3-A44A-1E0B985A43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04F060AF-2943-4DB3-474C-C965FB00EF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437" y="258470"/>
            <a:ext cx="3788217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Demonstration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FA18ED3-796E-44B3-0C72-45ADE453CED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A19A7850-122D-9752-54B3-4A2C242F6CB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362B0D0-D6E7-E3AE-C985-D12FF7BAD66E}"/>
              </a:ext>
            </a:extLst>
          </p:cNvPr>
          <p:cNvSpPr txBox="1"/>
          <p:nvPr/>
        </p:nvSpPr>
        <p:spPr>
          <a:xfrm>
            <a:off x="146387" y="1340768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0155DD-47FC-CCF9-D348-F5091847E523}"/>
              </a:ext>
            </a:extLst>
          </p:cNvPr>
          <p:cNvSpPr txBox="1"/>
          <p:nvPr/>
        </p:nvSpPr>
        <p:spPr>
          <a:xfrm>
            <a:off x="128437" y="1303014"/>
            <a:ext cx="896448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SK Dentals - Personal - Microsoft​ Edge 2025-04-25 12-19-02">
            <a:hlinkClick r:id="" action="ppaction://media"/>
            <a:extLst>
              <a:ext uri="{FF2B5EF4-FFF2-40B4-BE49-F238E27FC236}">
                <a16:creationId xmlns:a16="http://schemas.microsoft.com/office/drawing/2014/main" id="{E54BA8A5-F661-0B99-FEF2-A1FC870CB33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0" y="1000125"/>
            <a:ext cx="9144000" cy="485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439218"/>
      </p:ext>
    </p:extLst>
  </p:cSld>
  <p:clrMapOvr>
    <a:masterClrMapping/>
  </p:clrMapOvr>
  <p:transition spd="med" advTm="52351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359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E35C1-EF32-C2D8-929B-18F474665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5BA86BA-A51C-322D-0ACF-60C95930C5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77055B37-7B9B-D923-5420-AAA6E27251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437" y="258470"/>
            <a:ext cx="288252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Conclusion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468A517-98E5-3936-84FF-29A1ED04C27E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F1D0E150-7176-DA85-ACDB-6D74268A226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20CF23B-14B0-186F-2CAA-03253F34EDB3}"/>
              </a:ext>
            </a:extLst>
          </p:cNvPr>
          <p:cNvSpPr txBox="1"/>
          <p:nvPr/>
        </p:nvSpPr>
        <p:spPr>
          <a:xfrm>
            <a:off x="146387" y="1340768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67133A-4384-F96D-E77E-1BBE78B437C1}"/>
              </a:ext>
            </a:extLst>
          </p:cNvPr>
          <p:cNvSpPr txBox="1"/>
          <p:nvPr/>
        </p:nvSpPr>
        <p:spPr>
          <a:xfrm>
            <a:off x="128437" y="1303014"/>
            <a:ext cx="8964488" cy="464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u="sng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imSun" panose="02010600030101010101" pitchFamily="2" charset="-122"/>
              </a:rPr>
              <a:t>Learning </a:t>
            </a:r>
            <a:r>
              <a:rPr lang="en-US" b="1" u="sng" dirty="0">
                <a:latin typeface="Cambria" panose="02040503050406030204" pitchFamily="18" charset="0"/>
                <a:ea typeface="MS Mincho" panose="02020609040205080304" pitchFamily="49" charset="-128"/>
                <a:cs typeface="SimSun" panose="02010600030101010101" pitchFamily="2" charset="-122"/>
              </a:rPr>
              <a:t>A</a:t>
            </a:r>
            <a:r>
              <a:rPr lang="en-US" b="1" u="sng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imSun" panose="02010600030101010101" pitchFamily="2" charset="-122"/>
              </a:rPr>
              <a:t>nd Experience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:-</a:t>
            </a:r>
          </a:p>
          <a:p>
            <a:pPr algn="just"/>
            <a:r>
              <a:rPr lang="en-US" sz="1600" dirty="0"/>
              <a:t>Through this project, I gained valuable experience in designing and developing a responsive, user-friendly website tailored to real-world healthcare needs. I learned how to identify key problems—such as lack of online access, inefficient appointment systems, and poor patient engagement—and address them using modern web technologies. I became proficient in tools like HTML, CSS, JavaScript, Node.js, Express.js, and MongoDB, and also practiced deploying a live website using Netlify. The project deepened my understanding of full-stack development, user experience design, and how digital solutions can enhance service delivery in the medical field</a:t>
            </a:r>
          </a:p>
          <a:p>
            <a:pPr algn="just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u="sng" dirty="0">
                <a:latin typeface="Cambria" panose="02040503050406030204" pitchFamily="18" charset="0"/>
                <a:ea typeface="MS Mincho" panose="02020609040205080304" pitchFamily="49" charset="-128"/>
              </a:rPr>
              <a:t>Future Improvements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:-</a:t>
            </a:r>
          </a:p>
          <a:p>
            <a:pPr>
              <a:buNone/>
            </a:pPr>
            <a:r>
              <a:rPr lang="en-US" sz="1600" dirty="0"/>
              <a:t>For future enhancements, plan to: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Integrate Payment Gateways</a:t>
            </a:r>
            <a:r>
              <a:rPr lang="en-US" sz="1600" dirty="0"/>
              <a:t> for online consultation fees.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Add Teleconsultation Features</a:t>
            </a:r>
            <a:r>
              <a:rPr lang="en-US" sz="1600" dirty="0"/>
              <a:t> using video call APIs.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Include a Chatbot</a:t>
            </a:r>
            <a:r>
              <a:rPr lang="en-US" sz="1600" dirty="0"/>
              <a:t> for instant support and FAQs.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Enhance Security</a:t>
            </a:r>
            <a:r>
              <a:rPr lang="en-US" sz="1600" dirty="0"/>
              <a:t> through advanced data encryption and user authentication.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Develop a Mobile App</a:t>
            </a:r>
            <a:r>
              <a:rPr lang="en-US" sz="1600" dirty="0"/>
              <a:t> version for easier access.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Implement Analytics</a:t>
            </a:r>
            <a:r>
              <a:rPr lang="en-US" sz="1600" dirty="0"/>
              <a:t> for appointment trends and patient feedback</a:t>
            </a:r>
          </a:p>
          <a:p>
            <a:pPr algn="just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133275"/>
      </p:ext>
    </p:extLst>
  </p:cSld>
  <p:clrMapOvr>
    <a:masterClrMapping/>
  </p:clrMapOvr>
  <p:transition spd="med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80512" cy="6858000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734706" y="2708920"/>
            <a:ext cx="585301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dirty="0">
                <a:solidFill>
                  <a:srgbClr val="0060AA"/>
                </a:solidFill>
                <a:latin typeface="Garamond" pitchFamily="18" charset="0"/>
              </a:rPr>
              <a:t>THANK</a:t>
            </a:r>
            <a:r>
              <a:rPr lang="en-US" sz="7200" dirty="0">
                <a:latin typeface="Garamond" pitchFamily="18" charset="0"/>
              </a:rPr>
              <a:t> </a:t>
            </a:r>
            <a:r>
              <a:rPr lang="en-US" sz="7200" dirty="0">
                <a:solidFill>
                  <a:srgbClr val="E31E24"/>
                </a:solidFill>
                <a:latin typeface="Garamond" pitchFamily="18" charset="0"/>
              </a:rPr>
              <a:t>YOU!</a:t>
            </a:r>
            <a:endParaRPr lang="en-IN" sz="7200" dirty="0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8198192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7042</TotalTime>
  <Words>1136</Words>
  <Application>Microsoft Office PowerPoint</Application>
  <PresentationFormat>On-screen Show (4:3)</PresentationFormat>
  <Paragraphs>136</Paragraphs>
  <Slides>14</Slides>
  <Notes>12</Notes>
  <HiddenSlides>0</HiddenSlides>
  <MMClips>1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4" baseType="lpstr">
      <vt:lpstr>Arial</vt:lpstr>
      <vt:lpstr>Calibri</vt:lpstr>
      <vt:lpstr>Cambria</vt:lpstr>
      <vt:lpstr>Garamond</vt:lpstr>
      <vt:lpstr>Gelasio</vt:lpstr>
      <vt:lpstr>Lato</vt:lpstr>
      <vt:lpstr>Times New Roman</vt:lpstr>
      <vt:lpstr>Verdana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Before &amp; After Gallery: Real Results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WEBDEV</dc:creator>
  <cp:lastModifiedBy>Rounit kumar</cp:lastModifiedBy>
  <cp:revision>335</cp:revision>
  <cp:lastPrinted>2022-09-05T08:43:44Z</cp:lastPrinted>
  <dcterms:created xsi:type="dcterms:W3CDTF">2020-01-16T09:05:56Z</dcterms:created>
  <dcterms:modified xsi:type="dcterms:W3CDTF">2025-05-02T12:15:33Z</dcterms:modified>
</cp:coreProperties>
</file>